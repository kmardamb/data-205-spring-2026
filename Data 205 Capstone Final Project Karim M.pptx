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60" r:id="rId6"/>
    <p:sldId id="261" r:id="rId7"/>
    <p:sldId id="259" r:id="rId8"/>
    <p:sldId id="271" r:id="rId9"/>
    <p:sldId id="263" r:id="rId10"/>
    <p:sldId id="266" r:id="rId11"/>
    <p:sldId id="272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6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14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89EEA2-3699-4CEA-AAA7-C4021D11F3A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E2D6A-CA97-46A8-89FE-D7E66B9A5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2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E2D6A-CA97-46A8-89FE-D7E66B9A5B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4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E2D6A-CA97-46A8-89FE-D7E66B9A5B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20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E2D6A-CA97-46A8-89FE-D7E66B9A5B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56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E2D6A-CA97-46A8-89FE-D7E66B9A5B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38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E2D6A-CA97-46A8-89FE-D7E66B9A5B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55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DDFE-B1D0-7FF8-9617-184EBC958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F0D52-A217-9752-919D-A8B4EBA4B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3FB49-DDBB-51E5-7677-0E55F4A6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0CDF3-0957-340A-7E3A-346D9C180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669D4-00B7-A9B0-F380-48116053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6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8949-7CB4-8620-4215-58A73BD3B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E177C-574D-0E83-1481-03480B34D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1EB42-6ABD-FEB2-BFC8-6C6D6901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1801D-3F33-4EEF-05D7-404C61B0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83E93-9866-AAF4-BA44-A62B8470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0BCA-5C84-FB5E-086B-7A920948D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A55D1-CF60-7F71-D0CF-D28369065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13645-41C0-9AE1-211A-2CE2003C7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D7EF8-5C80-6271-752D-DF4D71BC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35FB3-FBC8-1EBB-537D-F399212E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3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21EB-AB44-8170-D705-68DC63C1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B415F-8E73-98F5-04DB-C254C0E5A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9356E-49FD-AAAF-D6DB-221633FF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85BE5-C679-EC3E-88FA-59F4C1948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A5654-F701-E55E-58E3-D559FF52D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2DE4A-2ED5-548F-2905-42C768B2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85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0AEA-497E-623D-ADC0-F0B779D37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CA28C-C2A6-F337-CF47-F32E30D1C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CFFCE-1DDA-D2C6-5432-48F651C8C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DB36B-283D-DFDC-7A43-5B0A16521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61EF77-EAF1-47A1-4B8B-1AFBED965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AADF2-DC64-B334-0F0C-9D6E5207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A8EB58-13B4-F308-2D51-492CE05AB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75A067-83F3-4579-FFC1-9A93453B0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7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4381-0981-2980-2B8D-852499A2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413CE-5DC1-BD2A-E578-27A1379E5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8B3EC-E1BB-D0C5-1CF6-BF0F5D9E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3D2B2-342B-8955-9257-ECDFEA8B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76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A981E6-2233-FB8B-7B8E-D6BB487F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F0ABE8-D032-F2D3-DAD4-DB16EDC3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24437-8A17-668B-F09A-C735EEB8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1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9D6A-B482-7B40-E9FC-CC2A72CA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70354-0050-0A72-216F-CAE7749A1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DF307-6B6E-8469-D53D-9A4733FD1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A25AE-0DC8-E636-CCB3-068A88E7B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B0938-A8B4-C2ED-05AB-BEFC30D1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8A532-8F82-78DD-F5BA-231D1BE2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73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51A5-8BA2-57C6-0BE1-9ECC1220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88FE1D-9F73-B526-FFB7-EA1F74FD6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DFD82-25CB-0802-B6A9-7A2CAC34C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F2ED3-8A99-8703-99A4-DF2832F2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E3DC-EFE9-9786-E3F3-385F2872A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DA6FD-71FE-461E-6CF0-78FD1672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3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29C33-683E-05E8-19BF-1A1F9430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199C0-F73D-0FDE-12A6-0E4C79F7F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CB2B4-7A4F-0A4D-A917-9257A9C4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9E41E-2F82-8763-764A-0CED4B9E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43C32-8F51-EB09-A85E-A5E5D3D7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2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6E44EB-340A-F89A-F61D-FCF564921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04461-1A1C-076B-8E0F-60067CE33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19465-6B8E-D77B-A570-A14C3512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DBB09-A324-711A-E823-A1735EC92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BC877-2B61-AD32-ABA3-B1394F6B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44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C999A-53F7-F765-A560-6F07ACA7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7750A-5144-5B05-0537-9BC9EAD75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1BB8F-AF5A-F535-C2EF-51D6A2188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ACED4-62DE-4807-A31F-45F276DA2CD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55226-8A00-BB00-19B1-C400F9999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ADA4A-7618-92FE-ABEA-FDCFE78EF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C6F52-7E3E-4A12-9CD3-D4B54649F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1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ontgomerycountymd.gov/Public-Safety/Crime-Incident-Map/df95-9nn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data.montgomerycountymd.gov/Consumer-Housing/Housing-Licensing-and-Registration/et5s-xste/about_data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56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E4F82-AE41-20A6-5B32-FB99592A26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>
                <a:latin typeface="Amasis MT Pro Light" panose="02040304050005020304" pitchFamily="18" charset="0"/>
              </a:rPr>
              <a:t>Crime Frequencies &amp; Housing Analysis in Montgomery County</a:t>
            </a:r>
            <a:br>
              <a:rPr lang="en-US" sz="5400" b="1" dirty="0">
                <a:latin typeface="Amasis MT Pro Light" panose="02040304050005020304" pitchFamily="18" charset="0"/>
              </a:rPr>
            </a:br>
            <a:br>
              <a:rPr lang="en-US" sz="5400" b="1" dirty="0">
                <a:latin typeface="Amasis MT Pro Light" panose="02040304050005020304" pitchFamily="18" charset="0"/>
              </a:rPr>
            </a:br>
            <a:r>
              <a:rPr lang="en-US" sz="2800" b="1" dirty="0">
                <a:latin typeface="Amasis MT Pro Light" panose="02040304050005020304" pitchFamily="18" charset="0"/>
              </a:rPr>
              <a:t>Data 205 - Capstone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831ED-348F-D575-8284-1A97029A2D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Amasis MT Pro Light" panose="02040304050005020304" pitchFamily="18" charset="0"/>
              </a:rPr>
              <a:t>Karim MardamBey</a:t>
            </a:r>
          </a:p>
          <a:p>
            <a:r>
              <a:rPr lang="en-US" sz="2000" b="1" dirty="0">
                <a:latin typeface="Amasis MT Pro Light" panose="02040304050005020304" pitchFamily="18" charset="0"/>
              </a:rPr>
              <a:t>CRN 33155</a:t>
            </a:r>
          </a:p>
          <a:p>
            <a:r>
              <a:rPr lang="en-US" sz="2000" b="1" dirty="0">
                <a:latin typeface="Amasis MT Pro Light" panose="02040304050005020304" pitchFamily="18" charset="0"/>
              </a:rPr>
              <a:t>5/11/2026</a:t>
            </a:r>
          </a:p>
          <a:p>
            <a:r>
              <a:rPr lang="en-US" sz="2000" b="1" dirty="0">
                <a:latin typeface="Amasis MT Pro Light" panose="02040304050005020304" pitchFamily="18" charset="0"/>
              </a:rPr>
              <a:t>Prof. Lori Perine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C35C22-3E27-2DC5-1653-334E4DD64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87" y="4352114"/>
            <a:ext cx="1811371" cy="181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56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1000"/>
                <a:lumOff val="49000"/>
              </a:schemeClr>
            </a:gs>
            <a:gs pos="100000">
              <a:schemeClr val="accent4">
                <a:lumMod val="78000"/>
                <a:lumOff val="22000"/>
              </a:schemeClr>
            </a:gs>
            <a:gs pos="100000">
              <a:srgbClr val="FF0000">
                <a:lumMod val="94000"/>
                <a:lumOff val="6000"/>
              </a:srgb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E15B-7EC3-429C-EE85-2E86F73F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Amasis MT Pro Black" panose="02040A04050005020304" pitchFamily="18" charset="0"/>
              </a:rPr>
              <a:t>Project Goals &amp; Purpose </a:t>
            </a:r>
            <a:endParaRPr lang="en-US" sz="4000" b="1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7EFC8-FB5E-5D75-BD74-793868300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Amasis MT Pro Black" panose="02040A04050005020304" pitchFamily="18" charset="0"/>
              </a:rPr>
              <a:t>Main Goal: </a:t>
            </a:r>
            <a:r>
              <a:rPr lang="en-US" sz="2000" b="1" dirty="0">
                <a:latin typeface="Amasis MT Pro Light" panose="02040304050005020304" pitchFamily="18" charset="0"/>
              </a:rPr>
              <a:t>Analyze crime frequencies across Montgomery County</a:t>
            </a:r>
          </a:p>
          <a:p>
            <a:pPr marL="0" indent="0">
              <a:buNone/>
            </a:pPr>
            <a:endParaRPr lang="en-US" sz="1800" b="1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Amasis MT Pro Black" panose="02040A04050005020304" pitchFamily="18" charset="0"/>
              </a:rPr>
              <a:t>Do Urban areas in Montgomery County experience higher crime rates?</a:t>
            </a:r>
          </a:p>
          <a:p>
            <a:pPr marL="0" indent="0">
              <a:buNone/>
            </a:pPr>
            <a:r>
              <a:rPr lang="en-US" sz="1600" dirty="0">
                <a:latin typeface="Amasis MT Pro Light" panose="02040304050005020304" pitchFamily="18" charset="0"/>
              </a:rPr>
              <a:t>(Correlation between Population Density and Crime Rates)</a:t>
            </a:r>
          </a:p>
          <a:p>
            <a:pPr marL="0" indent="0">
              <a:buNone/>
            </a:pPr>
            <a:endParaRPr lang="en-US" sz="18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Amasis MT Pro Black" panose="02040A04050005020304" pitchFamily="18" charset="0"/>
              </a:rPr>
              <a:t>What crime classifications are predominant in Montgomery County?</a:t>
            </a:r>
          </a:p>
          <a:p>
            <a:pPr marL="0" indent="0">
              <a:buNone/>
            </a:pPr>
            <a:r>
              <a:rPr lang="en-US" sz="1600" dirty="0">
                <a:latin typeface="Amasis MT Pro Light" panose="02040304050005020304" pitchFamily="18" charset="0"/>
              </a:rPr>
              <a:t>(Difference in Violent vs. Non-Violent crimes)</a:t>
            </a:r>
            <a:br>
              <a:rPr lang="en-US" sz="1800" dirty="0">
                <a:latin typeface="Amasis MT Pro Light" panose="02040304050005020304" pitchFamily="18" charset="0"/>
              </a:rPr>
            </a:br>
            <a:endParaRPr lang="en-US" sz="18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Amasis MT Pro Black" panose="02040A04050005020304" pitchFamily="18" charset="0"/>
              </a:rPr>
              <a:t>Does the residential infrastructure influence the frequency of crime rates?</a:t>
            </a:r>
          </a:p>
          <a:p>
            <a:pPr marL="0" indent="0">
              <a:buNone/>
            </a:pPr>
            <a:r>
              <a:rPr lang="en-US" sz="1600" dirty="0">
                <a:latin typeface="Amasis MT Pro Light" panose="02040304050005020304" pitchFamily="18" charset="0"/>
              </a:rPr>
              <a:t>(Community Safety and Socio-Economic assessment)</a:t>
            </a:r>
          </a:p>
          <a:p>
            <a:pPr marL="0" indent="0">
              <a:buNone/>
            </a:pPr>
            <a:endParaRPr lang="en-US" sz="18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File:Montgomery County map.png - Wikimedia Commons">
            <a:extLst>
              <a:ext uri="{FF2B5EF4-FFF2-40B4-BE49-F238E27FC236}">
                <a16:creationId xmlns:a16="http://schemas.microsoft.com/office/drawing/2014/main" id="{4AE269B5-86E0-AA1A-27FA-878EFFEFF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051" y="112848"/>
            <a:ext cx="3010465" cy="25551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05224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CA74C-4871-9B9B-E350-31A46D2D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Data Sets / Ingestion and Cleaning 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F8C99-DAD4-4191-7837-E5C621251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masis MT Pro Black" panose="020F0502020204030204" pitchFamily="18" charset="0"/>
              </a:rPr>
              <a:t>Crime Rates Dataset:</a:t>
            </a:r>
          </a:p>
          <a:p>
            <a:pPr marL="0" indent="0">
              <a:buNone/>
            </a:pPr>
            <a:r>
              <a:rPr lang="en-US" sz="1800" b="1" i="1" dirty="0">
                <a:latin typeface="Amasis MT Pro Light" panose="020403040500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https://data.montgomerycountymd.gov/Public-Safety/Crime-Incident-Map/df95-9nn9</a:t>
            </a:r>
            <a:endParaRPr lang="en-US" sz="1800" b="1" i="1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Amasis MT Pro Light" panose="02040304050005020304" pitchFamily="18" charset="0"/>
              </a:rPr>
              <a:t>Crimes Rates Dataset: 400,000+ crime incident records</a:t>
            </a:r>
          </a:p>
          <a:p>
            <a:pPr marL="0" indent="0">
              <a:buNone/>
            </a:pPr>
            <a:endParaRPr lang="en-US" sz="1800" b="1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Amasis MT Pro Black" panose="02040A04050005020304" pitchFamily="18" charset="0"/>
              </a:rPr>
              <a:t>Housing Licensing and Registration:</a:t>
            </a:r>
          </a:p>
          <a:p>
            <a:pPr marL="0" indent="0">
              <a:buNone/>
            </a:pPr>
            <a:r>
              <a:rPr lang="en-US" sz="1800" b="1" i="1" dirty="0">
                <a:latin typeface="Amasis MT Pro Light" panose="020403040500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https://data.montgomerycountymd.gov/Consumer-Housing/Housing-Licensing-and-Registration/et5s-xste/about_data</a:t>
            </a:r>
            <a:endParaRPr lang="en-US" sz="1800" b="1" i="1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Amasis MT Pro Light" panose="02040304050005020304" pitchFamily="18" charset="0"/>
              </a:rPr>
              <a:t>Housing Licensing and Registration Dataset: ~ 30,000 property records</a:t>
            </a:r>
          </a:p>
          <a:p>
            <a:pPr marL="0" indent="0">
              <a:buNone/>
            </a:pPr>
            <a:endParaRPr lang="en-US" sz="1800" b="1" dirty="0">
              <a:latin typeface="Amasis MT Pro Light" panose="02040304050005020304" pitchFamily="18" charset="0"/>
            </a:endParaRPr>
          </a:p>
        </p:txBody>
      </p:sp>
      <p:pic>
        <p:nvPicPr>
          <p:cNvPr id="5" name="Picture 4" descr="Table data Generic Rounded Shapes icon | Freepik">
            <a:extLst>
              <a:ext uri="{FF2B5EF4-FFF2-40B4-BE49-F238E27FC236}">
                <a16:creationId xmlns:a16="http://schemas.microsoft.com/office/drawing/2014/main" id="{31BE67A8-2469-A48E-6648-646FE22095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871" y="1690688"/>
            <a:ext cx="2820716" cy="282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2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B8CD-4676-84C5-2B35-9A8AC19D8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Data Sets / Ingestion and Cleaning B.</a:t>
            </a:r>
            <a:endParaRPr lang="en-US" sz="4000" dirty="0">
              <a:latin typeface="Amasis MT Pro Black" panose="02040A040500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DA628-5839-AAAF-4496-77A2747CDB6B}"/>
              </a:ext>
            </a:extLst>
          </p:cNvPr>
          <p:cNvSpPr txBox="1"/>
          <p:nvPr/>
        </p:nvSpPr>
        <p:spPr>
          <a:xfrm>
            <a:off x="838200" y="1690688"/>
            <a:ext cx="470656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masis MT Pro Black" panose="02040A04050005020304" pitchFamily="18" charset="0"/>
              </a:rPr>
              <a:t>Dataset cleaning consisted of: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400" b="1" dirty="0">
                <a:latin typeface="Amasis MT Pro Light" panose="02040304050005020304" pitchFamily="18" charset="0"/>
              </a:rPr>
              <a:t>Removing invalid or redundant ZIP code entries.</a:t>
            </a:r>
          </a:p>
          <a:p>
            <a:pPr marL="285750" indent="-285750">
              <a:buFontTx/>
              <a:buChar char="-"/>
            </a:pPr>
            <a:endParaRPr lang="en-US" sz="1400" b="1" dirty="0">
              <a:latin typeface="Amasis MT Pro Light" panose="02040304050005020304" pitchFamily="18" charset="0"/>
            </a:endParaRPr>
          </a:p>
          <a:p>
            <a:pPr marL="285750" indent="-285750">
              <a:buFontTx/>
              <a:buChar char="-"/>
            </a:pPr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Renaming municipalities (original dataset had misspelled city names and repeated names).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Transformed dispatch dates and times to accurately plot time series analysis and other explorations.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Aggregated the dates to match with seasonal months (Spring, Summer, Fall, Winter).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Separated Longitude and Latitude from the addresses in the Housing and Licensing dataset.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215553-72D6-00ED-3F1E-14F6B9848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252" y="1690688"/>
            <a:ext cx="2236063" cy="7861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F731B6-CED7-E308-A525-9DB0820038C0}"/>
              </a:ext>
            </a:extLst>
          </p:cNvPr>
          <p:cNvSpPr txBox="1"/>
          <p:nvPr/>
        </p:nvSpPr>
        <p:spPr>
          <a:xfrm>
            <a:off x="7676475" y="2766655"/>
            <a:ext cx="1925527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masis MT Pro Black" panose="02040A04050005020304" pitchFamily="18" charset="0"/>
              </a:rPr>
              <a:t>Libraries used:</a:t>
            </a:r>
          </a:p>
          <a:p>
            <a:endParaRPr lang="en-US" b="1" dirty="0">
              <a:latin typeface="Amasis MT Pro Black" panose="02040A04050005020304" pitchFamily="18" charset="0"/>
            </a:endParaRPr>
          </a:p>
          <a:p>
            <a:pPr algn="ctr"/>
            <a:r>
              <a:rPr lang="en-US" sz="1600" b="1" dirty="0">
                <a:latin typeface="Amasis MT Pro Light" panose="02040304050005020304" pitchFamily="18" charset="0"/>
              </a:rPr>
              <a:t>dplyr</a:t>
            </a:r>
          </a:p>
          <a:p>
            <a:pPr algn="ctr"/>
            <a:endParaRPr lang="en-US" sz="1600" b="1" dirty="0">
              <a:latin typeface="Amasis MT Pro Light" panose="02040304050005020304" pitchFamily="18" charset="0"/>
            </a:endParaRPr>
          </a:p>
          <a:p>
            <a:pPr algn="ctr"/>
            <a:r>
              <a:rPr lang="en-US" sz="1600" b="1" dirty="0">
                <a:latin typeface="Amasis MT Pro Light" panose="02040304050005020304" pitchFamily="18" charset="0"/>
              </a:rPr>
              <a:t>tidyr</a:t>
            </a:r>
          </a:p>
          <a:p>
            <a:pPr algn="ctr"/>
            <a:endParaRPr lang="en-US" sz="1600" b="1" dirty="0">
              <a:latin typeface="Amasis MT Pro Light" panose="02040304050005020304" pitchFamily="18" charset="0"/>
            </a:endParaRPr>
          </a:p>
          <a:p>
            <a:pPr algn="ctr"/>
            <a:r>
              <a:rPr lang="en-US" sz="1600" b="1" dirty="0">
                <a:latin typeface="Amasis MT Pro Light" panose="02040304050005020304" pitchFamily="18" charset="0"/>
              </a:rPr>
              <a:t>leaflet</a:t>
            </a:r>
          </a:p>
          <a:p>
            <a:pPr algn="ctr"/>
            <a:endParaRPr lang="en-US" sz="1600" b="1" dirty="0">
              <a:latin typeface="Amasis MT Pro Light" panose="02040304050005020304" pitchFamily="18" charset="0"/>
            </a:endParaRPr>
          </a:p>
          <a:p>
            <a:pPr algn="ctr"/>
            <a:r>
              <a:rPr lang="en-US" sz="1600" b="1" dirty="0">
                <a:latin typeface="Amasis MT Pro Light" panose="02040304050005020304" pitchFamily="18" charset="0"/>
              </a:rPr>
              <a:t>ggplot2</a:t>
            </a:r>
          </a:p>
          <a:p>
            <a:pPr algn="ctr"/>
            <a:endParaRPr lang="en-US" sz="1600" b="1" dirty="0">
              <a:latin typeface="Amasis MT Pro Light" panose="02040304050005020304" pitchFamily="18" charset="0"/>
            </a:endParaRPr>
          </a:p>
          <a:p>
            <a:pPr algn="ctr"/>
            <a:r>
              <a:rPr lang="en-US" sz="1600" b="1" dirty="0">
                <a:latin typeface="Amasis MT Pro Light" panose="02040304050005020304" pitchFamily="18" charset="0"/>
              </a:rPr>
              <a:t>ggfortify</a:t>
            </a:r>
          </a:p>
          <a:p>
            <a:pPr algn="ctr"/>
            <a:endParaRPr lang="en-US" sz="1600" b="1" dirty="0">
              <a:latin typeface="Amasis MT Pro Light" panose="02040304050005020304" pitchFamily="18" charset="0"/>
            </a:endParaRPr>
          </a:p>
          <a:p>
            <a:pPr algn="ctr"/>
            <a:r>
              <a:rPr lang="en-US" sz="1600" b="1" dirty="0">
                <a:latin typeface="Amasis MT Pro Light" panose="02040304050005020304" pitchFamily="18" charset="0"/>
              </a:rPr>
              <a:t>lubridate</a:t>
            </a:r>
          </a:p>
          <a:p>
            <a:endParaRPr lang="en-US" b="1" dirty="0"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811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CB304-2499-705B-1663-458E01384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masis MT Pro Black" panose="02040A04050005020304" pitchFamily="18" charset="0"/>
              </a:rPr>
              <a:t>Time Series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FFD48D9-1165-1539-0050-8D29B79A2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44" y="1690688"/>
            <a:ext cx="5893340" cy="3817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E9AC67-3E89-5EA5-B384-E3B4E38119E7}"/>
              </a:ext>
            </a:extLst>
          </p:cNvPr>
          <p:cNvSpPr txBox="1"/>
          <p:nvPr/>
        </p:nvSpPr>
        <p:spPr>
          <a:xfrm>
            <a:off x="6631044" y="1886280"/>
            <a:ext cx="566805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masis MT Pro Black" panose="02040A04050005020304" pitchFamily="18" charset="0"/>
              </a:rPr>
              <a:t>Monthly Crime Trends:</a:t>
            </a:r>
          </a:p>
          <a:p>
            <a:endParaRPr lang="en-US" sz="1600" b="1" dirty="0">
              <a:latin typeface="Amasis MT Pro Black" panose="02040A04050005020304" pitchFamily="18" charset="0"/>
            </a:endParaRPr>
          </a:p>
          <a:p>
            <a:endParaRPr lang="en-US" sz="1600" b="1" dirty="0">
              <a:latin typeface="Amasis MT Pro Black" panose="02040A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Monthly crime trends were recorded using 2500 occurrences per month </a:t>
            </a:r>
          </a:p>
          <a:p>
            <a:r>
              <a:rPr lang="en-US" sz="1400" b="1" dirty="0">
                <a:latin typeface="Amasis MT Pro Light" panose="02040304050005020304" pitchFamily="18" charset="0"/>
              </a:rPr>
              <a:t>(max).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Crime rates saw a sharp drop after COVID-19 lockdowns.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Overall, we’ve seen a long-term downward trend in crime rates in</a:t>
            </a:r>
          </a:p>
          <a:p>
            <a:r>
              <a:rPr lang="en-US" sz="1400" b="1" dirty="0">
                <a:latin typeface="Amasis MT Pro Light" panose="02040304050005020304" pitchFamily="18" charset="0"/>
              </a:rPr>
              <a:t>Montgomery County.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i="1" dirty="0">
                <a:latin typeface="Amasis MT Pro Light" panose="02040304050005020304" pitchFamily="18" charset="0"/>
              </a:rPr>
              <a:t>* Major drop in crimes is the end of the data set (last recorded date).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01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85A6C-E76F-81D7-9FFD-0146CFC90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masis MT Pro Black" panose="02040A04050005020304" pitchFamily="18" charset="0"/>
              </a:rPr>
              <a:t>Seasonal Frequency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A6B1E3-FE76-3946-6590-4678EFEC2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867247" cy="4351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44B395-E459-662A-F609-B7219B1ADAA9}"/>
              </a:ext>
            </a:extLst>
          </p:cNvPr>
          <p:cNvSpPr txBox="1"/>
          <p:nvPr/>
        </p:nvSpPr>
        <p:spPr>
          <a:xfrm>
            <a:off x="8036187" y="2188974"/>
            <a:ext cx="353438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masis MT Pro Black" panose="02040A04050005020304" pitchFamily="18" charset="0"/>
              </a:rPr>
              <a:t>Seasonal Crime Trends: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Variation in Seasonal Crime Rates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Crime rates increase when warmer weather is more prevalent.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Summer and Fall generally had the highest crime rates (45,625, 44,055) and then dip off into the Winter (40,883).</a:t>
            </a:r>
          </a:p>
        </p:txBody>
      </p:sp>
      <p:pic>
        <p:nvPicPr>
          <p:cNvPr id="4" name="Picture 3" descr="Pictures of Different Seasons in a Year | Four Seasons">
            <a:extLst>
              <a:ext uri="{FF2B5EF4-FFF2-40B4-BE49-F238E27FC236}">
                <a16:creationId xmlns:a16="http://schemas.microsoft.com/office/drawing/2014/main" id="{015BC906-E295-16AE-DB82-52989F9F7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965" y="505601"/>
            <a:ext cx="2089218" cy="10446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8570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E0F7D-AA92-F526-D1B9-E85C8FD7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masis MT Pro Black" panose="02040A04050005020304" pitchFamily="18" charset="0"/>
              </a:rPr>
              <a:t>Crime Classification Comparison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EC09B51-2749-C605-0E7C-9AF9992EA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00" y="1690688"/>
            <a:ext cx="6808848" cy="42756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55E4A9-6A3A-E975-0421-AB40576A8471}"/>
              </a:ext>
            </a:extLst>
          </p:cNvPr>
          <p:cNvSpPr txBox="1"/>
          <p:nvPr/>
        </p:nvSpPr>
        <p:spPr>
          <a:xfrm>
            <a:off x="7527588" y="1690688"/>
            <a:ext cx="466441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masis MT Pro Black" panose="02040A04050005020304" pitchFamily="18" charset="0"/>
              </a:rPr>
              <a:t>Violent vs. Non-Violent Crimes: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Crimes Against Property takes account for ~ 66.8% of the crimes in MoCo reported.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Crimes Against Person accounted for ~ 7.3% of the overall</a:t>
            </a:r>
          </a:p>
          <a:p>
            <a:r>
              <a:rPr lang="en-US" sz="1400" b="1" dirty="0">
                <a:latin typeface="Amasis MT Pro Light" panose="02040304050005020304" pitchFamily="18" charset="0"/>
              </a:rPr>
              <a:t>Crimes in MoCo.</a:t>
            </a: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Non-Violent crimes are the most frequent occurring in </a:t>
            </a:r>
          </a:p>
          <a:p>
            <a:r>
              <a:rPr lang="en-US" sz="1400" b="1" dirty="0">
                <a:latin typeface="Amasis MT Pro Light" panose="02040304050005020304" pitchFamily="18" charset="0"/>
              </a:rPr>
              <a:t>Montgomery County.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</p:txBody>
      </p:sp>
      <p:pic>
        <p:nvPicPr>
          <p:cNvPr id="5" name="Picture 4" descr="The Prosecutor's Perspective: Mandatory Bindover Prioritizes Public Safety  and Justice">
            <a:extLst>
              <a:ext uri="{FF2B5EF4-FFF2-40B4-BE49-F238E27FC236}">
                <a16:creationId xmlns:a16="http://schemas.microsoft.com/office/drawing/2014/main" id="{C974990B-2402-891E-A74D-58F27ABD0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496" y="4775739"/>
            <a:ext cx="2575704" cy="171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076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C25DB-C41D-2035-45C4-E37FF4EBB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masis MT Pro Black" panose="02040A04050005020304" pitchFamily="18" charset="0"/>
              </a:rPr>
              <a:t>City Crime Frequencies</a:t>
            </a:r>
            <a:endParaRPr lang="en-US" sz="4000" dirty="0">
              <a:latin typeface="Amasis MT Pro Black" panose="02040A040500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772D66-DAEA-F691-08F7-10AF40EEC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937097" cy="4351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637200-F559-A96D-1C37-7592E62B29E9}"/>
              </a:ext>
            </a:extLst>
          </p:cNvPr>
          <p:cNvSpPr txBox="1"/>
          <p:nvPr/>
        </p:nvSpPr>
        <p:spPr>
          <a:xfrm>
            <a:off x="8064747" y="2081253"/>
            <a:ext cx="39299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masis MT Pro Black" panose="02040A04050005020304" pitchFamily="18" charset="0"/>
              </a:rPr>
              <a:t>Crime Frequency by Municipality:</a:t>
            </a: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Silver Spring accounted for the highest total crimes in Montgomery County at ~ 34.1% .</a:t>
            </a: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Urban developed areas of MoCo experience higher rates of crime.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Crime rates decrease substantially outside of highly populated areas.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Population density likely correlates to the increase in crime rates.</a:t>
            </a:r>
          </a:p>
        </p:txBody>
      </p:sp>
      <p:pic>
        <p:nvPicPr>
          <p:cNvPr id="11" name="Picture 10" descr="Downtown Silver Spring, Maryland - Terrain.org">
            <a:extLst>
              <a:ext uri="{FF2B5EF4-FFF2-40B4-BE49-F238E27FC236}">
                <a16:creationId xmlns:a16="http://schemas.microsoft.com/office/drawing/2014/main" id="{D91A00D0-2FE2-B492-6966-2D69CA852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839" y="256988"/>
            <a:ext cx="2312753" cy="15418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54264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F2A4-1410-6FB8-77CB-03E49569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masis MT Pro Black" panose="02040A04050005020304" pitchFamily="18" charset="0"/>
              </a:rPr>
              <a:t>Common Crime Locations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C2EC3A-3169-08EC-D257-382CB9D46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94" y="1690688"/>
            <a:ext cx="6458968" cy="41199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A2C031-B7BD-6F6A-76AB-AC31E37EECAB}"/>
              </a:ext>
            </a:extLst>
          </p:cNvPr>
          <p:cNvSpPr txBox="1"/>
          <p:nvPr/>
        </p:nvSpPr>
        <p:spPr>
          <a:xfrm>
            <a:off x="7091114" y="1969886"/>
            <a:ext cx="5008935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 Black" panose="02040A04050005020304" pitchFamily="18" charset="0"/>
              </a:rPr>
              <a:t>Crime Location Analysis:</a:t>
            </a:r>
          </a:p>
          <a:p>
            <a:endParaRPr lang="en-US" sz="1600" dirty="0">
              <a:latin typeface="Amasis MT Pro Light" panose="02040304050005020304" pitchFamily="18" charset="0"/>
            </a:endParaRPr>
          </a:p>
          <a:p>
            <a:endParaRPr lang="en-US" sz="1600" dirty="0">
              <a:latin typeface="Amasis MT Pro Light" panose="02040304050005020304" pitchFamily="18" charset="0"/>
            </a:endParaRPr>
          </a:p>
          <a:p>
            <a:r>
              <a:rPr lang="en-US" sz="1600" b="1" dirty="0">
                <a:latin typeface="Amasis MT Pro Light" panose="02040304050005020304" pitchFamily="18" charset="0"/>
              </a:rPr>
              <a:t>Residential areas saw the highest rates of reported crimes.</a:t>
            </a:r>
          </a:p>
          <a:p>
            <a:endParaRPr lang="en-US" sz="1600" b="1" dirty="0">
              <a:latin typeface="Amasis MT Pro Light" panose="02040304050005020304" pitchFamily="18" charset="0"/>
            </a:endParaRPr>
          </a:p>
          <a:p>
            <a:endParaRPr lang="en-US" sz="1600" b="1" dirty="0">
              <a:latin typeface="Amasis MT Pro Light" panose="02040304050005020304" pitchFamily="18" charset="0"/>
            </a:endParaRPr>
          </a:p>
          <a:p>
            <a:r>
              <a:rPr lang="en-US" sz="1600" b="1" dirty="0">
                <a:latin typeface="Amasis MT Pro Light" panose="02040304050005020304" pitchFamily="18" charset="0"/>
              </a:rPr>
              <a:t>Crimes cluster the most in high traffic residential areas.</a:t>
            </a:r>
          </a:p>
          <a:p>
            <a:endParaRPr lang="en-US" sz="1600" b="1" dirty="0">
              <a:latin typeface="Amasis MT Pro Light" panose="02040304050005020304" pitchFamily="18" charset="0"/>
            </a:endParaRPr>
          </a:p>
          <a:p>
            <a:endParaRPr lang="en-US" sz="1600" b="1" dirty="0">
              <a:latin typeface="Amasis MT Pro Light" panose="02040304050005020304" pitchFamily="18" charset="0"/>
            </a:endParaRPr>
          </a:p>
          <a:p>
            <a:r>
              <a:rPr lang="en-US" sz="1600" b="1" dirty="0">
                <a:latin typeface="Amasis MT Pro Light" panose="02040304050005020304" pitchFamily="18" charset="0"/>
              </a:rPr>
              <a:t>Crimes Against Property can be correlated with crime </a:t>
            </a:r>
          </a:p>
          <a:p>
            <a:r>
              <a:rPr lang="en-US" sz="1600" b="1" dirty="0">
                <a:latin typeface="Amasis MT Pro Light" panose="02040304050005020304" pitchFamily="18" charset="0"/>
              </a:rPr>
              <a:t>frequency based on location.</a:t>
            </a:r>
          </a:p>
          <a:p>
            <a:endParaRPr lang="en-US" sz="1600" b="1" dirty="0">
              <a:latin typeface="Amasis MT Pro Light" panose="02040304050005020304" pitchFamily="18" charset="0"/>
            </a:endParaRPr>
          </a:p>
          <a:p>
            <a:r>
              <a:rPr lang="en-US" sz="1600" b="1" dirty="0">
                <a:latin typeface="Amasis MT Pro Light" panose="02040304050005020304" pitchFamily="18" charset="0"/>
              </a:rPr>
              <a:t> </a:t>
            </a:r>
          </a:p>
        </p:txBody>
      </p:sp>
      <p:pic>
        <p:nvPicPr>
          <p:cNvPr id="8" name="Picture 7" descr="8 Ways to Find Your Car in a Parking Lot​">
            <a:extLst>
              <a:ext uri="{FF2B5EF4-FFF2-40B4-BE49-F238E27FC236}">
                <a16:creationId xmlns:a16="http://schemas.microsoft.com/office/drawing/2014/main" id="{EEE0ECE2-B5DB-E676-5C3E-FCB29E796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482" y="5035528"/>
            <a:ext cx="2698151" cy="15502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3472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84A2A-C1D9-FD13-2E90-9B1B71824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masis MT Pro Black" panose="02040A04050005020304" pitchFamily="18" charset="0"/>
              </a:rPr>
              <a:t>Variety of Housing Structures in MoCo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847419-5FA0-9F73-8DC0-789E1867A0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3" y="1690688"/>
            <a:ext cx="6538483" cy="4201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37EC26-7178-F485-A582-E01C7573F64F}"/>
              </a:ext>
            </a:extLst>
          </p:cNvPr>
          <p:cNvSpPr txBox="1"/>
          <p:nvPr/>
        </p:nvSpPr>
        <p:spPr>
          <a:xfrm>
            <a:off x="6991784" y="1690688"/>
            <a:ext cx="531536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asis MT Pro Black" panose="02040A04050005020304" pitchFamily="18" charset="0"/>
              </a:rPr>
              <a:t>Housing Units Summary: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>
                <a:latin typeface="Amasis MT Pro Light" panose="02040304050005020304" pitchFamily="18" charset="0"/>
              </a:rPr>
              <a:t>Multifamily housing represents the majority of the housing category in</a:t>
            </a:r>
          </a:p>
          <a:p>
            <a:r>
              <a:rPr lang="en-US" sz="1400" b="1" dirty="0">
                <a:latin typeface="Amasis MT Pro Light" panose="02040304050005020304" pitchFamily="18" charset="0"/>
              </a:rPr>
              <a:t>Montgomery County.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Apartments and Multi Family complexes were most common in highly </a:t>
            </a:r>
          </a:p>
          <a:p>
            <a:r>
              <a:rPr lang="en-US" sz="1400" b="1" dirty="0">
                <a:latin typeface="Amasis MT Pro Light" panose="02040304050005020304" pitchFamily="18" charset="0"/>
              </a:rPr>
              <a:t>populated areas of MoCo.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Residential infrastructure varies across all the municipalities.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Linear Regression output showed that 75.2% of crime totals can be </a:t>
            </a:r>
          </a:p>
          <a:p>
            <a:r>
              <a:rPr lang="en-US" sz="1400" b="1" dirty="0">
                <a:latin typeface="Amasis MT Pro Light" panose="02040304050005020304" pitchFamily="18" charset="0"/>
              </a:rPr>
              <a:t>correlated with the housing unit totals.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40B0CC-E932-2A09-A0DF-88D673F53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366" y="5309791"/>
            <a:ext cx="1645603" cy="116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2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>
                <a:lumMod val="97000"/>
                <a:lumOff val="3000"/>
              </a:srgb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6BDD6-65EC-708F-335E-CC7A7042E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112" y="206917"/>
            <a:ext cx="3733800" cy="84113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Amasis MT Pro Black" panose="02040A04050005020304" pitchFamily="18" charset="0"/>
              </a:rPr>
              <a:t>GIS Heat Maps</a:t>
            </a:r>
            <a:endParaRPr lang="en-US" sz="4000" dirty="0">
              <a:latin typeface="Amasis MT Pro Black" panose="02040A040500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5B0F6B-FAFE-C685-5288-00AEC6E32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708" y="165067"/>
            <a:ext cx="5222292" cy="32639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76E530-1BB1-B1D8-4DA4-251617588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708" y="3429000"/>
            <a:ext cx="5222294" cy="3263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C6DD04-BFB8-0BEB-3BD1-00FA9826684E}"/>
              </a:ext>
            </a:extLst>
          </p:cNvPr>
          <p:cNvSpPr txBox="1"/>
          <p:nvPr/>
        </p:nvSpPr>
        <p:spPr>
          <a:xfrm>
            <a:off x="510540" y="1048056"/>
            <a:ext cx="64591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Amasis MT Pro Light" panose="02040304050005020304" pitchFamily="18" charset="0"/>
              </a:rPr>
              <a:t>1</a:t>
            </a:r>
            <a:r>
              <a:rPr lang="en-US" b="1" i="1" baseline="30000" dirty="0">
                <a:latin typeface="Amasis MT Pro Light" panose="02040304050005020304" pitchFamily="18" charset="0"/>
              </a:rPr>
              <a:t>st</a:t>
            </a:r>
            <a:r>
              <a:rPr lang="en-US" b="1" i="1" dirty="0">
                <a:latin typeface="Amasis MT Pro Light" panose="02040304050005020304" pitchFamily="18" charset="0"/>
              </a:rPr>
              <a:t> GIS Heat Map: 6 Most Common Crimes in Montgomery County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600" b="1" dirty="0">
                <a:latin typeface="Amasis MT Pro Light" panose="02040304050005020304" pitchFamily="18" charset="0"/>
              </a:rPr>
              <a:t>Crimes Include:</a:t>
            </a: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Larceny (Crime against Possession), Destruction/Damage/Vandalism to Property, Motor Vehicle Theft, Theft of Motor Vehicle Parts or Accessories</a:t>
            </a:r>
          </a:p>
          <a:p>
            <a:endParaRPr lang="en-US" sz="14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In correlation to the 2</a:t>
            </a:r>
            <a:r>
              <a:rPr lang="en-US" sz="1400" b="1" baseline="30000" dirty="0">
                <a:latin typeface="Amasis MT Pro Light" panose="02040304050005020304" pitchFamily="18" charset="0"/>
              </a:rPr>
              <a:t>nd</a:t>
            </a:r>
            <a:r>
              <a:rPr lang="en-US" sz="1400" b="1" dirty="0">
                <a:latin typeface="Amasis MT Pro Light" panose="02040304050005020304" pitchFamily="18" charset="0"/>
              </a:rPr>
              <a:t> GIS Map, we can see that a majority of the crimes cluster around urban residential development.</a:t>
            </a:r>
          </a:p>
          <a:p>
            <a:endParaRPr lang="en-US" baseline="30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F6DE93-3661-C9D8-8E72-C171BB8CAA5D}"/>
              </a:ext>
            </a:extLst>
          </p:cNvPr>
          <p:cNvSpPr txBox="1"/>
          <p:nvPr/>
        </p:nvSpPr>
        <p:spPr>
          <a:xfrm>
            <a:off x="510538" y="3552862"/>
            <a:ext cx="6096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latin typeface="Amasis MT Pro Light" panose="02040304050005020304" pitchFamily="18" charset="0"/>
              </a:rPr>
              <a:t>2nd GIS Heat Map: Locations of Residential Properties</a:t>
            </a:r>
            <a:endParaRPr lang="en-US" sz="1800" b="1" i="1" dirty="0">
              <a:latin typeface="Amasis MT Pro Light" panose="02040304050005020304" pitchFamily="18" charset="0"/>
            </a:endParaRPr>
          </a:p>
          <a:p>
            <a:endParaRPr lang="en-US" sz="2000" b="1" i="1" dirty="0">
              <a:latin typeface="Amasis MT Pro Light" panose="02040304050005020304" pitchFamily="18" charset="0"/>
            </a:endParaRPr>
          </a:p>
          <a:p>
            <a:r>
              <a:rPr lang="en-US" sz="1600" b="1" dirty="0">
                <a:latin typeface="Amasis MT Pro Light" panose="02040304050005020304" pitchFamily="18" charset="0"/>
              </a:rPr>
              <a:t>Locations Include:</a:t>
            </a:r>
          </a:p>
          <a:p>
            <a:endParaRPr lang="en-US" sz="1600" b="1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Condominium in Garden Style Property, Garden Apartment (Multifamily 1-4 stories), Highrise (Multifamily with 9+ stories), Single Family, Townhouse Single Family</a:t>
            </a:r>
          </a:p>
          <a:p>
            <a:endParaRPr lang="en-US" sz="1400" dirty="0">
              <a:latin typeface="Amasis MT Pro Light" panose="02040304050005020304" pitchFamily="18" charset="0"/>
            </a:endParaRPr>
          </a:p>
          <a:p>
            <a:r>
              <a:rPr lang="en-US" sz="1400" b="1" dirty="0">
                <a:latin typeface="Amasis MT Pro Light" panose="02040304050005020304" pitchFamily="18" charset="0"/>
              </a:rPr>
              <a:t>Urban development can be seen to cluster in the central and southern parts of</a:t>
            </a:r>
          </a:p>
          <a:p>
            <a:r>
              <a:rPr lang="en-US" sz="1400" b="1" dirty="0">
                <a:latin typeface="Amasis MT Pro Light" panose="02040304050005020304" pitchFamily="18" charset="0"/>
              </a:rPr>
              <a:t>Montgomery County.</a:t>
            </a:r>
          </a:p>
          <a:p>
            <a:endParaRPr lang="en-US" sz="1800" dirty="0">
              <a:latin typeface="Amasis MT Pro Light" panose="02040304050005020304" pitchFamily="18" charset="0"/>
            </a:endParaRPr>
          </a:p>
          <a:p>
            <a:endParaRPr lang="en-US" sz="1800" dirty="0"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255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F491F-ECBF-B995-2C7E-418E6C5D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Amasis MT Pro Black" panose="02040A04050005020304" pitchFamily="18" charset="0"/>
              </a:rPr>
              <a:t>Key Findings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74BEB-6611-3A93-5298-A09F9A225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Amasis MT Pro Black" panose="02040A04050005020304" pitchFamily="18" charset="0"/>
              </a:rPr>
              <a:t>Key Findings:</a:t>
            </a:r>
          </a:p>
          <a:p>
            <a:pPr marL="0" indent="0">
              <a:buNone/>
            </a:pPr>
            <a:endParaRPr lang="en-US" sz="1800" b="1" dirty="0">
              <a:latin typeface="Amasis MT Pro Black" panose="02040A04050005020304" pitchFamily="18" charset="0"/>
            </a:endParaRPr>
          </a:p>
          <a:p>
            <a:pPr>
              <a:buFontTx/>
              <a:buChar char="-"/>
            </a:pPr>
            <a:r>
              <a:rPr lang="en-US" sz="1800" b="1" dirty="0">
                <a:latin typeface="Amasis MT Pro Light" panose="02040304050005020304" pitchFamily="18" charset="0"/>
              </a:rPr>
              <a:t>Crime patterns deviated depending on seasonal and geographic conditions.</a:t>
            </a:r>
          </a:p>
          <a:p>
            <a:pPr>
              <a:buFontTx/>
              <a:buChar char="-"/>
            </a:pPr>
            <a:r>
              <a:rPr lang="en-US" sz="1800" b="1" dirty="0">
                <a:latin typeface="Amasis MT Pro Light" panose="02040304050005020304" pitchFamily="18" charset="0"/>
              </a:rPr>
              <a:t>Urbanized areas of Montgomery County see higher rates of crime.</a:t>
            </a:r>
          </a:p>
          <a:p>
            <a:pPr>
              <a:buFontTx/>
              <a:buChar char="-"/>
            </a:pPr>
            <a:r>
              <a:rPr lang="en-US" sz="1800" b="1" dirty="0">
                <a:latin typeface="Amasis MT Pro Light" panose="02040304050005020304" pitchFamily="18" charset="0"/>
              </a:rPr>
              <a:t>Housing density has a correlation with the higher crime frequency.</a:t>
            </a:r>
          </a:p>
          <a:p>
            <a:pPr>
              <a:buFontTx/>
              <a:buChar char="-"/>
            </a:pPr>
            <a:endParaRPr lang="en-US" sz="18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Amasis MT Pro Black" panose="02040A04050005020304" pitchFamily="18" charset="0"/>
              </a:rPr>
              <a:t>Recommendations:</a:t>
            </a:r>
          </a:p>
          <a:p>
            <a:pPr marL="0" indent="0">
              <a:buNone/>
            </a:pPr>
            <a:endParaRPr lang="en-US" sz="1800" dirty="0">
              <a:latin typeface="Amasis MT Pro Black" panose="02040A04050005020304" pitchFamily="18" charset="0"/>
            </a:endParaRPr>
          </a:p>
          <a:p>
            <a:pPr>
              <a:buFontTx/>
              <a:buChar char="-"/>
            </a:pPr>
            <a:r>
              <a:rPr lang="en-US" sz="1800" b="1" dirty="0">
                <a:latin typeface="Amasis MT Pro Light" panose="02040304050005020304" pitchFamily="18" charset="0"/>
              </a:rPr>
              <a:t>Focus community safety resources on densely urbanized areas of Montgomery County.</a:t>
            </a:r>
          </a:p>
          <a:p>
            <a:pPr>
              <a:buFontTx/>
              <a:buChar char="-"/>
            </a:pPr>
            <a:r>
              <a:rPr lang="en-US" sz="1800" b="1" dirty="0">
                <a:latin typeface="Amasis MT Pro Light" panose="02040304050005020304" pitchFamily="18" charset="0"/>
              </a:rPr>
              <a:t>For future analysis it would have been good to look at socio-economic relationships between housing and crimes.</a:t>
            </a:r>
          </a:p>
        </p:txBody>
      </p:sp>
      <p:pic>
        <p:nvPicPr>
          <p:cNvPr id="4" name="Picture 3" descr="Community Safety Initiative | PWC Works">
            <a:extLst>
              <a:ext uri="{FF2B5EF4-FFF2-40B4-BE49-F238E27FC236}">
                <a16:creationId xmlns:a16="http://schemas.microsoft.com/office/drawing/2014/main" id="{BB2A6328-6E93-2D2F-3AB2-FBA4C89A6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377" y="1971607"/>
            <a:ext cx="3415793" cy="22300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1765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8A9E-9DF6-7EF9-76AE-452F5301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masis MT Pro Black" panose="02040A04050005020304" pitchFamily="18" charset="0"/>
              </a:rPr>
              <a:t>Acknowledgements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6FCF4-E30C-31FF-48DE-91A1D28D0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Amasis MT Pro Light" panose="020403040500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Amasis MT Pro Black" panose="02040A04050005020304" pitchFamily="18" charset="0"/>
              </a:rPr>
              <a:t>Thank you to:</a:t>
            </a:r>
          </a:p>
          <a:p>
            <a:pPr marL="0" indent="0" algn="ctr">
              <a:buNone/>
            </a:pPr>
            <a:endParaRPr lang="en-US" sz="2400" dirty="0">
              <a:latin typeface="Amasis MT Pro Black" panose="02040A040500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Amasis MT Pro Black" panose="02040A04050005020304" pitchFamily="18" charset="0"/>
              </a:rPr>
              <a:t>Prof. Saidi</a:t>
            </a:r>
          </a:p>
          <a:p>
            <a:pPr marL="0" indent="0" algn="ctr">
              <a:buNone/>
            </a:pPr>
            <a:r>
              <a:rPr lang="en-US" sz="2400" dirty="0">
                <a:latin typeface="Amasis MT Pro Black" panose="02040A04050005020304" pitchFamily="18" charset="0"/>
              </a:rPr>
              <a:t>Prof. Alraee</a:t>
            </a:r>
          </a:p>
          <a:p>
            <a:pPr marL="0" indent="0" algn="ctr">
              <a:buNone/>
            </a:pPr>
            <a:r>
              <a:rPr lang="en-US" sz="2400" dirty="0">
                <a:latin typeface="Amasis MT Pro Black" panose="02040A04050005020304" pitchFamily="18" charset="0"/>
              </a:rPr>
              <a:t>Prof. Perine</a:t>
            </a:r>
          </a:p>
          <a:p>
            <a:pPr marL="0" indent="0" algn="ctr">
              <a:buNone/>
            </a:pPr>
            <a:endParaRPr lang="en-US" sz="24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5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100000">
              <a:schemeClr val="accent4">
                <a:lumMod val="95000"/>
                <a:lumOff val="5000"/>
              </a:schemeClr>
            </a:gs>
            <a:gs pos="100000">
              <a:srgbClr val="FF0000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780D1-6DE0-90B8-E9EF-66FFB557F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masis MT Pro Black" panose="02040A04050005020304" pitchFamily="18" charset="0"/>
              </a:rPr>
              <a:t>Thank You! and Questions?</a:t>
            </a:r>
          </a:p>
        </p:txBody>
      </p:sp>
    </p:spTree>
    <p:extLst>
      <p:ext uri="{BB962C8B-B14F-4D97-AF65-F5344CB8AC3E}">
        <p14:creationId xmlns:p14="http://schemas.microsoft.com/office/powerpoint/2010/main" val="3400888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652</TotalTime>
  <Words>788</Words>
  <Application>Microsoft Office PowerPoint</Application>
  <PresentationFormat>Widescreen</PresentationFormat>
  <Paragraphs>206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Amasis MT Pro Black</vt:lpstr>
      <vt:lpstr>Amasis MT Pro Light</vt:lpstr>
      <vt:lpstr>Aptos</vt:lpstr>
      <vt:lpstr>Aptos Display</vt:lpstr>
      <vt:lpstr>Arial</vt:lpstr>
      <vt:lpstr>Office Theme</vt:lpstr>
      <vt:lpstr>Crime Frequencies &amp; Housing Analysis in Montgomery County  Data 205 - Capstone Final Project</vt:lpstr>
      <vt:lpstr>Project Goals &amp; Purpose </vt:lpstr>
      <vt:lpstr>Data Sets / Ingestion and Cleaning A.</vt:lpstr>
      <vt:lpstr>Data Sets / Ingestion and Cleaning B.</vt:lpstr>
      <vt:lpstr>Time Series Analysis</vt:lpstr>
      <vt:lpstr>Seasonal Frequency</vt:lpstr>
      <vt:lpstr>Crime Classification Comparison</vt:lpstr>
      <vt:lpstr>City Crime Frequencies</vt:lpstr>
      <vt:lpstr>Common Crime Locations</vt:lpstr>
      <vt:lpstr>Variety of Housing Structures in MoCo</vt:lpstr>
      <vt:lpstr>GIS Heat Maps</vt:lpstr>
      <vt:lpstr>Key Findings and Recommendations</vt:lpstr>
      <vt:lpstr>Acknowledgements</vt:lpstr>
      <vt:lpstr>Thank You! and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Mardambey, Karim M</dc:creator>
  <cp:lastModifiedBy>Mardambey, Karim M</cp:lastModifiedBy>
  <cp:revision>9</cp:revision>
  <dcterms:created xsi:type="dcterms:W3CDTF">2026-05-04T20:56:53Z</dcterms:created>
  <dcterms:modified xsi:type="dcterms:W3CDTF">2026-05-11T03:25:02Z</dcterms:modified>
</cp:coreProperties>
</file>